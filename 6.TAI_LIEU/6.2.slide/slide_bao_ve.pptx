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03631510ce4957" /><Relationship Type="http://schemas.openxmlformats.org/officeDocument/2006/relationships/extended-properties" Target="/docProps/app.xml" Id="R2169715446ae4368" /><Relationship Type="http://schemas.openxmlformats.org/officeDocument/2006/relationships/officeDocument" Target="/ppt/presentation.xml" Id="R845b8eaa68684f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42f9ea65244a95"/>
  </p:sldMasterIdLst>
  <p:notesMasterIdLst>
    <p:notesMasterId xmlns:r="http://schemas.openxmlformats.org/officeDocument/2006/relationships" r:id="R028de475c9924995"/>
  </p:notesMasterIdLst>
  <p:sldIdLst>
    <p:sldId xmlns:r="http://schemas.openxmlformats.org/officeDocument/2006/relationships" id="256" r:id="Rdcd033a953c4401e"/>
    <p:sldId xmlns:r="http://schemas.openxmlformats.org/officeDocument/2006/relationships" id="257" r:id="Rc0db61f4de034b57"/>
    <p:sldId xmlns:r="http://schemas.openxmlformats.org/officeDocument/2006/relationships" id="258" r:id="R26e194944b424f51"/>
    <p:sldId xmlns:r="http://schemas.openxmlformats.org/officeDocument/2006/relationships" id="259" r:id="R62cd21c69bc34953"/>
    <p:sldId xmlns:r="http://schemas.openxmlformats.org/officeDocument/2006/relationships" id="260" r:id="R1550d3e843d64328"/>
    <p:sldId xmlns:r="http://schemas.openxmlformats.org/officeDocument/2006/relationships" id="261" r:id="R48883f82f8f24bbb"/>
    <p:sldId xmlns:r="http://schemas.openxmlformats.org/officeDocument/2006/relationships" id="262" r:id="Rb324621fb9c64778"/>
    <p:sldId xmlns:r="http://schemas.openxmlformats.org/officeDocument/2006/relationships" id="263" r:id="R1e439b4f5a914901"/>
    <p:sldId xmlns:r="http://schemas.openxmlformats.org/officeDocument/2006/relationships" id="264" r:id="R32b22afb4f594776"/>
    <p:sldId xmlns:r="http://schemas.openxmlformats.org/officeDocument/2006/relationships" id="265" r:id="Rc34ae81b2e4d40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b1d07379694d77" /><Relationship Type="http://schemas.openxmlformats.org/officeDocument/2006/relationships/slideMaster" Target="/ppt/slideMasters/slideMaster1.xml" Id="Rd342f9ea65244a95" /><Relationship Type="http://schemas.openxmlformats.org/officeDocument/2006/relationships/notesMaster" Target="/ppt/notesMasters/notesMaster1.xml" Id="R028de475c9924995" /><Relationship Type="http://schemas.openxmlformats.org/officeDocument/2006/relationships/presProps" Target="/ppt/presProps.xml" Id="Rf95455b931c0434f" /><Relationship Type="http://schemas.openxmlformats.org/officeDocument/2006/relationships/tableStyles" Target="/ppt/tableStyles.xml" Id="R32b1b94ed7944965" /><Relationship Type="http://schemas.openxmlformats.org/officeDocument/2006/relationships/slide" Target="/ppt/slides/slide1.xml" Id="Rdcd033a953c4401e" /><Relationship Type="http://schemas.openxmlformats.org/officeDocument/2006/relationships/slide" Target="/ppt/slides/slide2.xml" Id="Rc0db61f4de034b57" /><Relationship Type="http://schemas.openxmlformats.org/officeDocument/2006/relationships/slide" Target="/ppt/slides/slide3.xml" Id="R26e194944b424f51" /><Relationship Type="http://schemas.openxmlformats.org/officeDocument/2006/relationships/slide" Target="/ppt/slides/slide4.xml" Id="R62cd21c69bc34953" /><Relationship Type="http://schemas.openxmlformats.org/officeDocument/2006/relationships/slide" Target="/ppt/slides/slide5.xml" Id="R1550d3e843d64328" /><Relationship Type="http://schemas.openxmlformats.org/officeDocument/2006/relationships/slide" Target="/ppt/slides/slide6.xml" Id="R48883f82f8f24bbb" /><Relationship Type="http://schemas.openxmlformats.org/officeDocument/2006/relationships/slide" Target="/ppt/slides/slide7.xml" Id="Rb324621fb9c64778" /><Relationship Type="http://schemas.openxmlformats.org/officeDocument/2006/relationships/slide" Target="/ppt/slides/slide8.xml" Id="R1e439b4f5a914901" /><Relationship Type="http://schemas.openxmlformats.org/officeDocument/2006/relationships/slide" Target="/ppt/slides/slide9.xml" Id="R32b22afb4f594776" /><Relationship Type="http://schemas.openxmlformats.org/officeDocument/2006/relationships/slide" Target="/ppt/slides/slide10.xml" Id="Rc34ae81b2e4d40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16726fcfc64d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27f925a8b64328" /><Relationship Type="http://schemas.openxmlformats.org/officeDocument/2006/relationships/notesMaster" Target="/ppt/notesMasters/notesMaster1.xml" Id="R28673839780c4f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d51c1ce06b41d5" /><Relationship Type="http://schemas.openxmlformats.org/officeDocument/2006/relationships/notesMaster" Target="/ppt/notesMasters/notesMaster1.xml" Id="R8647130c846c4b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e2ee6f95654f5c" /><Relationship Type="http://schemas.openxmlformats.org/officeDocument/2006/relationships/notesMaster" Target="/ppt/notesMasters/notesMaster1.xml" Id="R08b41b1e76094b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0dd2bb13634846" /><Relationship Type="http://schemas.openxmlformats.org/officeDocument/2006/relationships/notesMaster" Target="/ppt/notesMasters/notesMaster1.xml" Id="Rb0fd3242baf94e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3f60004038415a" /><Relationship Type="http://schemas.openxmlformats.org/officeDocument/2006/relationships/notesMaster" Target="/ppt/notesMasters/notesMaster1.xml" Id="R39360a886a7a40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7118c98d8144c6" /><Relationship Type="http://schemas.openxmlformats.org/officeDocument/2006/relationships/notesMaster" Target="/ppt/notesMasters/notesMaster1.xml" Id="Rf3ef22cdba58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1fb48857dc467d" /><Relationship Type="http://schemas.openxmlformats.org/officeDocument/2006/relationships/notesMaster" Target="/ppt/notesMasters/notesMaster1.xml" Id="R0319d1c0285140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dadd8690fc4863" /><Relationship Type="http://schemas.openxmlformats.org/officeDocument/2006/relationships/notesMaster" Target="/ppt/notesMasters/notesMaster1.xml" Id="Rc3b1cb87275348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dc03f8a8754338" /><Relationship Type="http://schemas.openxmlformats.org/officeDocument/2006/relationships/notesMaster" Target="/ppt/notesMasters/notesMaster1.xml" Id="Rc38cbab84e5a48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aabc2437784d41" /><Relationship Type="http://schemas.openxmlformats.org/officeDocument/2006/relationships/notesMaster" Target="/ppt/notesMasters/notesMaster1.xml" Id="R89c9638197b34a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câu hỏi: đặc trưng âm thanh giải thích được bao nhiêu độ phổ biến?</a:t>
            </a:r>
          </a:p>
          <a:p xmlns:a="http://schemas.openxmlformats.org/drawingml/2006/main">
            <a:r>
              <a:t>Không tuyên bố hệ thống dự đoán chắc chắn một bài hát sẽ thành hit.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Bao_cao_3/Báo cáo epic3/feature_3_8/feature_3_8_slide_outline.md</a:t>
            </a:r>
          </a:p>
          <a:p xmlns:a="http://schemas.openxmlformats.org/drawingml/2006/main">
            <a:r>
              <a:t>- Bao_cao_3/Báo cáo epic3/feature_3_7/BAO_CAO_TONG_HOP_DU_AN.md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audio chỉ là một phần của độ phổ biến.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Bao_cao_3/Báo cáo epic3/feature_3_8/feature_3_8_slide_outline.md</a:t>
            </a:r>
          </a:p>
          <a:p xmlns:a="http://schemas.openxmlformats.org/drawingml/2006/main">
            <a:r>
              <a:t>- Bao_cao_3/Báo cáo epic3/feature_3_7/BAO_CAO_TONG_HOP_DU_AN.md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Popularity là chỉ số engagement trên Spotify, không phải chất lượng âm nhạc phổ quát.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Bao_cao_3/Báo cáo epic3/feature_3_8/feature_3_8_slide_outline.md</a:t>
            </a:r>
          </a:p>
          <a:p xmlns:a="http://schemas.openxmlformats.org/drawingml/2006/main">
            <a:r>
              <a:t>- Bao_cao_3/Báo cáo epic3/feature_3_7/BAO_CAO_TONG_HOP_DU_AN.md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có train, tune hoặc refit trong giai đoạn productization.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Bao_cao_3/Báo cáo epic3/feature_3_8/feature_3_8_slide_outline.md</a:t>
            </a:r>
          </a:p>
          <a:p xmlns:a="http://schemas.openxmlformats.org/drawingml/2006/main">
            <a:r>
              <a:t>- Bao_cao_3/Báo cáo epic3/feature_3_7/BAO_CAO_TONG_HOP_DU_AN.md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gọi các chỉ số này là accuracy.</a:t>
            </a:r>
          </a:p>
          <a:p xmlns:a="http://schemas.openxmlformats.org/drawingml/2006/main">
            <a:r>
              <a:t>Test split có 85.876 bài hát.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Bao_cao_3/Báo cáo epic3/feature_3_8/feature_3_8_slide_outline.md</a:t>
            </a:r>
          </a:p>
          <a:p xmlns:a="http://schemas.openxmlformats.org/drawingml/2006/main">
            <a:r>
              <a:t>- Bao_cao_3/Báo cáo epic3/feature_3_7/BAO_CAO_TONG_HOP_DU_AN.md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Lặp lại câu then chốt: correlation và model response không phải causation.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Bao_cao_3/Báo cáo epic3/feature_3_8/feature_3_8_slide_outline.md</a:t>
            </a:r>
          </a:p>
          <a:p xmlns:a="http://schemas.openxmlformats.org/drawingml/2006/main">
            <a:r>
              <a:t>- Bao_cao_3/Báo cáo epic3/feature_3_7/BAO_CAO_TONG_HOP_DU_AN.md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Frontend không trực tiếp tải model artifact.</a:t>
            </a:r>
          </a:p>
          <a:p xmlns:a="http://schemas.openxmlformats.org/drawingml/2006/main">
            <a:r>
              <a:t>Music Trends đọc CSV local và không phụ thuộc backend.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Bao_cao_3/Báo cáo epic3/feature_3_8/feature_3_8_slide_outline.md</a:t>
            </a:r>
          </a:p>
          <a:p xmlns:a="http://schemas.openxmlformats.org/drawingml/2006/main">
            <a:r>
              <a:t>- Bao_cao_3/Báo cáo epic3/feature_3_7/BAO_CAO_TONG_HOP_DU_AN.md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smoke không được thay thế cho human demo hoặc rehearsal.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Bao_cao_3/Báo cáo epic3/feature_3_8/feature_3_8_slide_outline.md</a:t>
            </a:r>
          </a:p>
          <a:p xmlns:a="http://schemas.openxmlformats.org/drawingml/2006/main">
            <a:r>
              <a:t>- Bao_cao_3/Báo cáo epic3/feature_3_7/BAO_CAO_TONG_HOP_DU_AN.md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các giới hạn bắt buộc phải nói trong phần kết luận và Q&amp;A.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Bao_cao_3/Báo cáo epic3/feature_3_8/feature_3_8_slide_outline.md</a:t>
            </a:r>
          </a:p>
          <a:p xmlns:a="http://schemas.openxmlformats.org/drawingml/2006/main">
            <a:r>
              <a:t>- Bao_cao_3/Báo cáo epic3/feature_3_7/BAO_CAO_TONG_HOP_DU_AN.md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thúc bằng thông điệp về full ML lifecycle và honest limitations.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Bao_cao_3/Báo cáo epic3/feature_3_8/feature_3_8_slide_outline.md</a:t>
            </a:r>
          </a:p>
          <a:p xmlns:a="http://schemas.openxmlformats.org/drawingml/2006/main">
            <a:r>
              <a:t>- Bao_cao_3/Báo cáo epic3/feature_3_7/BAO_CAO_TONG_HOP_DU_AN.md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c11f326b0048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f057376a874de3" /><Relationship Type="http://schemas.openxmlformats.org/officeDocument/2006/relationships/slideLayout" Target="/ppt/slideLayouts/slideLayout1.xml" Id="R090cc422bb0243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0cc422bb0243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2ebe7bbe14f3b" /><Relationship Type="http://schemas.openxmlformats.org/officeDocument/2006/relationships/notesSlide" Target="/ppt/notesSlides/notesSlide1.xml" Id="R3ed7da26ce0341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2d1819ec74416" /><Relationship Type="http://schemas.openxmlformats.org/officeDocument/2006/relationships/notesSlide" Target="/ppt/notesSlides/notesSlide2.xml" Id="Rd73be4652d7041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6fdd0fb644691" /><Relationship Type="http://schemas.openxmlformats.org/officeDocument/2006/relationships/notesSlide" Target="/ppt/notesSlides/notesSlide3.xml" Id="Rc2217874368341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65c13cf0e490d" /><Relationship Type="http://schemas.openxmlformats.org/officeDocument/2006/relationships/notesSlide" Target="/ppt/notesSlides/notesSlide4.xml" Id="R1adf6808917d42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959b5c9524326" /><Relationship Type="http://schemas.openxmlformats.org/officeDocument/2006/relationships/notesSlide" Target="/ppt/notesSlides/notesSlide5.xml" Id="R35670b5f85cc43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36324bee64a6a" /><Relationship Type="http://schemas.openxmlformats.org/officeDocument/2006/relationships/notesSlide" Target="/ppt/notesSlides/notesSlide6.xml" Id="Re0b6dc8d648846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b850da1e842fb" /><Relationship Type="http://schemas.openxmlformats.org/officeDocument/2006/relationships/notesSlide" Target="/ppt/notesSlides/notesSlide7.xml" Id="R481493dabd0d44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419876e8a4c3c" /><Relationship Type="http://schemas.openxmlformats.org/officeDocument/2006/relationships/notesSlide" Target="/ppt/notesSlides/notesSlide8.xml" Id="Reff84bc41c1542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06948da8b423e" /><Relationship Type="http://schemas.openxmlformats.org/officeDocument/2006/relationships/notesSlide" Target="/ppt/notesSlides/notesSlide9.xml" Id="R051c7caae7e04a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75e8b090a4d6b" /><Relationship Type="http://schemas.openxmlformats.org/officeDocument/2006/relationships/notesSlide" Target="/ppt/notesSlides/notesSlide10.xml" Id="Rbaea40d0259b4f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25022629-304B-4DE7-852A-D81277D2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HITRADAR PRO · EPIC 3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CA3E608-1EC3-4E50-895C-8454D077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9906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Dự đoán độ phổ biến bài hát với ML có thể giải thích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A339470-8B81-440B-9B5F-58B21F3E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05375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XGBoost regression · FastAPI · Streamlit · SHAP</a:t>
            </a:r>
          </a:p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Nhóm thực hiện: Minh, Đạt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A87D1D9-5705-4FA7-A5D5-B158B8BE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906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23283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2">
            <a:extLst xmlns:a="http://schemas.openxmlformats.org/drawingml/2006/main">
              <a:ext uri="{FF2B5EF4-FFF2-40B4-BE49-F238E27FC236}">
                <a16:creationId xmlns:a16="http://schemas.microsoft.com/office/drawing/2014/main" id="{F46871F0-0123-44ED-AC93-6AE51E4D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44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Bài toán khó vì độ phổ biến không chỉ đến từ âm thanh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C12A82D1-DCB9-422E-9E6E-6ECDD240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left-panel-2">
            <a:extLst xmlns:a="http://schemas.openxmlformats.org/drawingml/2006/main">
              <a:ext uri="{FF2B5EF4-FFF2-40B4-BE49-F238E27FC236}">
                <a16:creationId xmlns:a16="http://schemas.microsoft.com/office/drawing/2014/main" id="{FCB000E2-9F6E-4457-B317-7733DF0C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219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right-panel-2">
            <a:extLst xmlns:a="http://schemas.openxmlformats.org/drawingml/2006/main">
              <a:ext uri="{FF2B5EF4-FFF2-40B4-BE49-F238E27FC236}">
                <a16:creationId xmlns:a16="http://schemas.microsoft.com/office/drawing/2014/main" id="{F76B08D3-D87A-44D9-B099-6B85AD7B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5626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left-title-2">
            <a:extLst xmlns:a="http://schemas.openxmlformats.org/drawingml/2006/main">
              <a:ext uri="{FF2B5EF4-FFF2-40B4-BE49-F238E27FC236}">
                <a16:creationId xmlns:a16="http://schemas.microsoft.com/office/drawing/2014/main" id="{AF78DEC1-A2F3-4761-8560-7FC5A91D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Mục tiêu kỹ thuật</a:t>
            </a:r>
          </a:p>
        </p:txBody>
      </p:sp>
      <p:sp>
        <p:nvSpPr>
          <p:cNvPr id="6" name="left-body-2">
            <a:extLst xmlns:a="http://schemas.openxmlformats.org/drawingml/2006/main">
              <a:ext uri="{FF2B5EF4-FFF2-40B4-BE49-F238E27FC236}">
                <a16:creationId xmlns:a16="http://schemas.microsoft.com/office/drawing/2014/main" id="{D13998CF-2572-44A8-9485-6D28FDD7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667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Dự đoán popularity score 0–100 từ 18 trường audio và metadata.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Bài toán là regression liên tục, không phải phân loại hit/non-hit.</a:t>
            </a:r>
          </a:p>
        </p:txBody>
      </p:sp>
      <p:sp>
        <p:nvSpPr>
          <p:cNvPr id="7" name="right-title-2">
            <a:extLst xmlns:a="http://schemas.openxmlformats.org/drawingml/2006/main">
              <a:ext uri="{FF2B5EF4-FFF2-40B4-BE49-F238E27FC236}">
                <a16:creationId xmlns:a16="http://schemas.microsoft.com/office/drawing/2014/main" id="{411177D3-7E84-4F67-BAED-06880A6A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526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Ranh giới trung thực</a:t>
            </a:r>
          </a:p>
        </p:txBody>
      </p:sp>
      <p:sp>
        <p:nvSpPr>
          <p:cNvPr id="8" name="right-body-2">
            <a:extLst xmlns:a="http://schemas.openxmlformats.org/drawingml/2006/main">
              <a:ext uri="{FF2B5EF4-FFF2-40B4-BE49-F238E27FC236}">
                <a16:creationId xmlns:a16="http://schemas.microsoft.com/office/drawing/2014/main" id="{1111F448-14F1-41F8-A8D8-AEAC6363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495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Không có dữ liệu marketing, danh tiếng nghệ sĩ hay mạng xã hội.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Kết quả mô hình là một ước lượng học thuật, không phải bảo đảm thương mại.</a:t>
            </a:r>
          </a:p>
        </p:txBody>
      </p:sp>
    </p:spTree>
    <p:extLst>
      <p:ext uri="{BB962C8B-B14F-4D97-AF65-F5344CB8AC3E}">
        <p14:creationId xmlns:p14="http://schemas.microsoft.com/office/powerpoint/2010/main" val="17848982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3">
            <a:extLst xmlns:a="http://schemas.openxmlformats.org/drawingml/2006/main">
              <a:ext uri="{FF2B5EF4-FFF2-40B4-BE49-F238E27FC236}">
                <a16:creationId xmlns:a16="http://schemas.microsoft.com/office/drawing/2014/main" id="{C5B438C7-AE0C-47BF-AEC0-6E60CDDD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7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Dữ liệu lớn nhưng vẫn là một mẫu Spotify-derived có giới hạn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CD0A1C4C-5AA3-419D-82E8-62338958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intro-3">
            <a:extLst xmlns:a="http://schemas.openxmlformats.org/drawingml/2006/main">
              <a:ext uri="{FF2B5EF4-FFF2-40B4-BE49-F238E27FC236}">
                <a16:creationId xmlns:a16="http://schemas.microsoft.com/office/drawing/2014/main" id="{492D81FF-025E-4427-BDA9-7328AF83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Phạm vi canonical của ML-ready dataset hiện tại; không đại diện toàn bộ âm nhạc toàn cầu.</a:t>
            </a:r>
          </a:p>
        </p:txBody>
      </p:sp>
      <p:sp>
        <p:nvSpPr>
          <p:cNvPr id="4" name="metric-panel-3-0">
            <a:extLst xmlns:a="http://schemas.openxmlformats.org/drawingml/2006/main">
              <a:ext uri="{FF2B5EF4-FFF2-40B4-BE49-F238E27FC236}">
                <a16:creationId xmlns:a16="http://schemas.microsoft.com/office/drawing/2014/main" id="{976D19B4-64A1-49D7-B468-B43B29F4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metric-value-3-0">
            <a:extLst xmlns:a="http://schemas.openxmlformats.org/drawingml/2006/main">
              <a:ext uri="{FF2B5EF4-FFF2-40B4-BE49-F238E27FC236}">
                <a16:creationId xmlns:a16="http://schemas.microsoft.com/office/drawing/2014/main" id="{33B0954B-C27D-400D-A7C1-947F393B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586.672</a:t>
            </a:r>
          </a:p>
        </p:txBody>
      </p:sp>
      <p:sp>
        <p:nvSpPr>
          <p:cNvPr id="6" name="metric-label-3-0">
            <a:extLst xmlns:a="http://schemas.openxmlformats.org/drawingml/2006/main">
              <a:ext uri="{FF2B5EF4-FFF2-40B4-BE49-F238E27FC236}">
                <a16:creationId xmlns:a16="http://schemas.microsoft.com/office/drawing/2014/main" id="{0EE19FA8-2A59-4A0D-9DFF-6FC1F8B1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289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bài hát trong tập dữ liệu</a:t>
            </a:r>
          </a:p>
        </p:txBody>
      </p:sp>
      <p:sp>
        <p:nvSpPr>
          <p:cNvPr id="7" name="metric-panel-3-1">
            <a:extLst xmlns:a="http://schemas.openxmlformats.org/drawingml/2006/main">
              <a:ext uri="{FF2B5EF4-FFF2-40B4-BE49-F238E27FC236}">
                <a16:creationId xmlns:a16="http://schemas.microsoft.com/office/drawing/2014/main" id="{A7040A56-6544-474F-870A-AD841844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622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metric-value-3-1">
            <a:extLst xmlns:a="http://schemas.openxmlformats.org/drawingml/2006/main">
              <a:ext uri="{FF2B5EF4-FFF2-40B4-BE49-F238E27FC236}">
                <a16:creationId xmlns:a16="http://schemas.microsoft.com/office/drawing/2014/main" id="{C20A1D83-E30F-41DF-A424-F05C592F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90875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7925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1900–2021</a:t>
            </a:r>
          </a:p>
        </p:txBody>
      </p:sp>
      <p:sp>
        <p:nvSpPr>
          <p:cNvPr id="9" name="metric-label-3-1">
            <a:extLst xmlns:a="http://schemas.openxmlformats.org/drawingml/2006/main">
              <a:ext uri="{FF2B5EF4-FFF2-40B4-BE49-F238E27FC236}">
                <a16:creationId xmlns:a16="http://schemas.microsoft.com/office/drawing/2014/main" id="{3E6ED6A6-F606-4A48-81E3-03C7C182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289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phạm vi năm của dữ liệu hiện tại</a:t>
            </a:r>
          </a:p>
        </p:txBody>
      </p:sp>
      <p:sp>
        <p:nvSpPr>
          <p:cNvPr id="10" name="metric-panel-3-2">
            <a:extLst xmlns:a="http://schemas.openxmlformats.org/drawingml/2006/main">
              <a:ext uri="{FF2B5EF4-FFF2-40B4-BE49-F238E27FC236}">
                <a16:creationId xmlns:a16="http://schemas.microsoft.com/office/drawing/2014/main" id="{9712D764-8CBC-4FB4-B25D-1BF13C3E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622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metric-value-3-2">
            <a:extLst xmlns:a="http://schemas.openxmlformats.org/drawingml/2006/main">
              <a:ext uri="{FF2B5EF4-FFF2-40B4-BE49-F238E27FC236}">
                <a16:creationId xmlns:a16="http://schemas.microsoft.com/office/drawing/2014/main" id="{2B38C82A-7476-4B8D-BEDA-777D2A88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90875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2" name="metric-label-3-2">
            <a:extLst xmlns:a="http://schemas.openxmlformats.org/drawingml/2006/main">
              <a:ext uri="{FF2B5EF4-FFF2-40B4-BE49-F238E27FC236}">
                <a16:creationId xmlns:a16="http://schemas.microsoft.com/office/drawing/2014/main" id="{EADE7F3E-0890-4B92-B6C9-B7000138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76750"/>
            <a:ext cx="289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đặc trưng đầu vào canonical</a:t>
            </a:r>
          </a:p>
        </p:txBody>
      </p:sp>
    </p:spTree>
    <p:extLst>
      <p:ext uri="{BB962C8B-B14F-4D97-AF65-F5344CB8AC3E}">
        <p14:creationId xmlns:p14="http://schemas.microsoft.com/office/powerpoint/2010/main" val="9441656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4">
            <a:extLst xmlns:a="http://schemas.openxmlformats.org/drawingml/2006/main">
              <a:ext uri="{FF2B5EF4-FFF2-40B4-BE49-F238E27FC236}">
                <a16:creationId xmlns:a16="http://schemas.microsoft.com/office/drawing/2014/main" id="{5639FD5F-488C-4A11-9AE4-F123C8F7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36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Pipeline giữ nguyên một đường đi từ input đến dự đoán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2944C32A-89C2-492E-8649-9B642472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left-panel-4">
            <a:extLst xmlns:a="http://schemas.openxmlformats.org/drawingml/2006/main">
              <a:ext uri="{FF2B5EF4-FFF2-40B4-BE49-F238E27FC236}">
                <a16:creationId xmlns:a16="http://schemas.microsoft.com/office/drawing/2014/main" id="{6FAB489C-7F15-4FA3-A714-252A1C5B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219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right-panel-4">
            <a:extLst xmlns:a="http://schemas.openxmlformats.org/drawingml/2006/main">
              <a:ext uri="{FF2B5EF4-FFF2-40B4-BE49-F238E27FC236}">
                <a16:creationId xmlns:a16="http://schemas.microsoft.com/office/drawing/2014/main" id="{C36DEEB7-5735-4B32-BA37-69D22B47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5626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left-title-4">
            <a:extLst xmlns:a="http://schemas.openxmlformats.org/drawingml/2006/main">
              <a:ext uri="{FF2B5EF4-FFF2-40B4-BE49-F238E27FC236}">
                <a16:creationId xmlns:a16="http://schemas.microsoft.com/office/drawing/2014/main" id="{69AFE923-4238-4ED3-B467-4D08DD34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Biến đổi đặc trưng</a:t>
            </a:r>
          </a:p>
        </p:txBody>
      </p:sp>
      <p:sp>
        <p:nvSpPr>
          <p:cNvPr id="6" name="left-body-4">
            <a:extLst xmlns:a="http://schemas.openxmlformats.org/drawingml/2006/main">
              <a:ext uri="{FF2B5EF4-FFF2-40B4-BE49-F238E27FC236}">
                <a16:creationId xmlns:a16="http://schemas.microsoft.com/office/drawing/2014/main" id="{5A8CC342-06AE-42E3-B898-277B9B8C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667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 raw fields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→ +13 engineered features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→ 31 selected features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→ 49 transformed columns</a:t>
            </a:r>
          </a:p>
        </p:txBody>
      </p:sp>
      <p:sp>
        <p:nvSpPr>
          <p:cNvPr id="7" name="right-title-4">
            <a:extLst xmlns:a="http://schemas.openxmlformats.org/drawingml/2006/main">
              <a:ext uri="{FF2B5EF4-FFF2-40B4-BE49-F238E27FC236}">
                <a16:creationId xmlns:a16="http://schemas.microsoft.com/office/drawing/2014/main" id="{DAF1D3E5-4407-4A07-B459-E0A1A294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526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Suy luận</a:t>
            </a:r>
          </a:p>
        </p:txBody>
      </p:sp>
      <p:sp>
        <p:nvSpPr>
          <p:cNvPr id="8" name="right-body-4">
            <a:extLst xmlns:a="http://schemas.openxmlformats.org/drawingml/2006/main">
              <a:ext uri="{FF2B5EF4-FFF2-40B4-BE49-F238E27FC236}">
                <a16:creationId xmlns:a16="http://schemas.microsoft.com/office/drawing/2014/main" id="{81357CB6-2344-4784-AF28-99D368D3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495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Preprocessing đã đóng gói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→ XGBoost regression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→ popularity score 0–100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Artifact: full_inference_pipeline.joblib</a:t>
            </a:r>
          </a:p>
        </p:txBody>
      </p:sp>
    </p:spTree>
    <p:extLst>
      <p:ext uri="{BB962C8B-B14F-4D97-AF65-F5344CB8AC3E}">
        <p14:creationId xmlns:p14="http://schemas.microsoft.com/office/powerpoint/2010/main" val="1116288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5">
            <a:extLst xmlns:a="http://schemas.openxmlformats.org/drawingml/2006/main">
              <a:ext uri="{FF2B5EF4-FFF2-40B4-BE49-F238E27FC236}">
                <a16:creationId xmlns:a16="http://schemas.microsoft.com/office/drawing/2014/main" id="{2E495135-B2BF-4ED5-A885-9F09DB98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Mô hình có sai số đáng kể và sức giải thích thấp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48C08C66-20B2-4C2C-B5CD-2628D111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intro-5">
            <a:extLst xmlns:a="http://schemas.openxmlformats.org/drawingml/2006/main">
              <a:ext uri="{FF2B5EF4-FFF2-40B4-BE49-F238E27FC236}">
                <a16:creationId xmlns:a16="http://schemas.microsoft.com/office/drawing/2014/main" id="{924F3FAD-29D0-4591-8BB7-CEF3512E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Các chỉ số phải được đọc cùng nhau: mô hình hữu ích để minh họa ML lifecycle nhưng chưa đủ cho quyết định thực tế.</a:t>
            </a:r>
          </a:p>
        </p:txBody>
      </p:sp>
      <p:sp>
        <p:nvSpPr>
          <p:cNvPr id="4" name="metric-panel-5-0">
            <a:extLst xmlns:a="http://schemas.openxmlformats.org/drawingml/2006/main">
              <a:ext uri="{FF2B5EF4-FFF2-40B4-BE49-F238E27FC236}">
                <a16:creationId xmlns:a16="http://schemas.microsoft.com/office/drawing/2014/main" id="{55101C79-989F-4289-A8D2-2F15186D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metric-value-5-0">
            <a:extLst xmlns:a="http://schemas.openxmlformats.org/drawingml/2006/main">
              <a:ext uri="{FF2B5EF4-FFF2-40B4-BE49-F238E27FC236}">
                <a16:creationId xmlns:a16="http://schemas.microsoft.com/office/drawing/2014/main" id="{9DF412D7-6CDA-40CC-A8AA-E470C96C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17,65</a:t>
            </a:r>
          </a:p>
        </p:txBody>
      </p:sp>
      <p:sp>
        <p:nvSpPr>
          <p:cNvPr id="6" name="metric-label-5-0">
            <a:extLst xmlns:a="http://schemas.openxmlformats.org/drawingml/2006/main">
              <a:ext uri="{FF2B5EF4-FFF2-40B4-BE49-F238E27FC236}">
                <a16:creationId xmlns:a16="http://schemas.microsoft.com/office/drawing/2014/main" id="{C1AE6A25-16D3-45BE-8FB2-61EFF583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289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MAE · sai số điển hình khoảng 18 điểm</a:t>
            </a:r>
          </a:p>
        </p:txBody>
      </p:sp>
      <p:sp>
        <p:nvSpPr>
          <p:cNvPr id="7" name="metric-panel-5-1">
            <a:extLst xmlns:a="http://schemas.openxmlformats.org/drawingml/2006/main">
              <a:ext uri="{FF2B5EF4-FFF2-40B4-BE49-F238E27FC236}">
                <a16:creationId xmlns:a16="http://schemas.microsoft.com/office/drawing/2014/main" id="{47F0F90C-D1BE-4B6B-B6BB-F33EECEB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622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metric-value-5-1">
            <a:extLst xmlns:a="http://schemas.openxmlformats.org/drawingml/2006/main">
              <a:ext uri="{FF2B5EF4-FFF2-40B4-BE49-F238E27FC236}">
                <a16:creationId xmlns:a16="http://schemas.microsoft.com/office/drawing/2014/main" id="{4EE6FE3C-1FF4-4486-9052-24FA31E0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90875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21,01</a:t>
            </a:r>
          </a:p>
        </p:txBody>
      </p:sp>
      <p:sp>
        <p:nvSpPr>
          <p:cNvPr id="9" name="metric-label-5-1">
            <a:extLst xmlns:a="http://schemas.openxmlformats.org/drawingml/2006/main">
              <a:ext uri="{FF2B5EF4-FFF2-40B4-BE49-F238E27FC236}">
                <a16:creationId xmlns:a16="http://schemas.microsoft.com/office/drawing/2014/main" id="{299E43DE-8B8A-4BD2-8F49-E306951F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289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RMSE · nhạy với sai số lớn</a:t>
            </a:r>
          </a:p>
        </p:txBody>
      </p:sp>
      <p:sp>
        <p:nvSpPr>
          <p:cNvPr id="10" name="metric-panel-5-2">
            <a:extLst xmlns:a="http://schemas.openxmlformats.org/drawingml/2006/main">
              <a:ext uri="{FF2B5EF4-FFF2-40B4-BE49-F238E27FC236}">
                <a16:creationId xmlns:a16="http://schemas.microsoft.com/office/drawing/2014/main" id="{D998F3BE-32EA-4041-A9C2-4C64E556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622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metric-value-5-2">
            <a:extLst xmlns:a="http://schemas.openxmlformats.org/drawingml/2006/main">
              <a:ext uri="{FF2B5EF4-FFF2-40B4-BE49-F238E27FC236}">
                <a16:creationId xmlns:a16="http://schemas.microsoft.com/office/drawing/2014/main" id="{E27B9E38-55B1-468B-B58C-D8E92884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90875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R² 0,07</a:t>
            </a:r>
          </a:p>
        </p:txBody>
      </p:sp>
      <p:sp>
        <p:nvSpPr>
          <p:cNvPr id="12" name="metric-label-5-2">
            <a:extLst xmlns:a="http://schemas.openxmlformats.org/drawingml/2006/main">
              <a:ext uri="{FF2B5EF4-FFF2-40B4-BE49-F238E27FC236}">
                <a16:creationId xmlns:a16="http://schemas.microsoft.com/office/drawing/2014/main" id="{78FBE330-BBFF-488C-B177-7F97969E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76750"/>
            <a:ext cx="289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chỉ giải thích khoảng 7% phương sai</a:t>
            </a:r>
          </a:p>
        </p:txBody>
      </p:sp>
    </p:spTree>
    <p:extLst>
      <p:ext uri="{BB962C8B-B14F-4D97-AF65-F5344CB8AC3E}">
        <p14:creationId xmlns:p14="http://schemas.microsoft.com/office/powerpoint/2010/main" val="3877137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6">
            <a:extLst xmlns:a="http://schemas.openxmlformats.org/drawingml/2006/main">
              <a:ext uri="{FF2B5EF4-FFF2-40B4-BE49-F238E27FC236}">
                <a16:creationId xmlns:a16="http://schemas.microsoft.com/office/drawing/2014/main" id="{0D4CD4A7-5B31-4EB3-A419-8335384D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84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SHAP và What-If giải thích hành vi mô hình — không chứng minh nhân quả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894D1E7D-42C5-463E-BC5D-C145AE8B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left-panel-6">
            <a:extLst xmlns:a="http://schemas.openxmlformats.org/drawingml/2006/main">
              <a:ext uri="{FF2B5EF4-FFF2-40B4-BE49-F238E27FC236}">
                <a16:creationId xmlns:a16="http://schemas.microsoft.com/office/drawing/2014/main" id="{E5D006C6-F906-4413-B5B1-62845E6B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219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right-panel-6">
            <a:extLst xmlns:a="http://schemas.openxmlformats.org/drawingml/2006/main">
              <a:ext uri="{FF2B5EF4-FFF2-40B4-BE49-F238E27FC236}">
                <a16:creationId xmlns:a16="http://schemas.microsoft.com/office/drawing/2014/main" id="{773D4A27-6A45-46DD-9375-9F37D1AE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5626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left-title-6">
            <a:extLst xmlns:a="http://schemas.openxmlformats.org/drawingml/2006/main">
              <a:ext uri="{FF2B5EF4-FFF2-40B4-BE49-F238E27FC236}">
                <a16:creationId xmlns:a16="http://schemas.microsoft.com/office/drawing/2014/main" id="{67C04E44-9927-45CC-9D9D-D63DA3E2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SHAP</a:t>
            </a:r>
          </a:p>
        </p:txBody>
      </p:sp>
      <p:sp>
        <p:nvSpPr>
          <p:cNvPr id="6" name="left-body-6">
            <a:extLst xmlns:a="http://schemas.openxmlformats.org/drawingml/2006/main">
              <a:ext uri="{FF2B5EF4-FFF2-40B4-BE49-F238E27FC236}">
                <a16:creationId xmlns:a16="http://schemas.microsoft.com/office/drawing/2014/main" id="{4C0901DB-E219-4AF0-8554-3C4B9DAC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667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Cho biết đặc trưng nào đẩy dự đoán lên hoặc xuống cho một input cụ thể.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 value + tổng SHAP xấp xỉ prediction.</a:t>
            </a:r>
          </a:p>
        </p:txBody>
      </p:sp>
      <p:sp>
        <p:nvSpPr>
          <p:cNvPr id="7" name="right-title-6">
            <a:extLst xmlns:a="http://schemas.openxmlformats.org/drawingml/2006/main">
              <a:ext uri="{FF2B5EF4-FFF2-40B4-BE49-F238E27FC236}">
                <a16:creationId xmlns:a16="http://schemas.microsoft.com/office/drawing/2014/main" id="{545B2FCF-C6AB-4098-9A34-5143F93C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526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What-If</a:t>
            </a:r>
          </a:p>
        </p:txBody>
      </p:sp>
      <p:sp>
        <p:nvSpPr>
          <p:cNvPr id="8" name="right-body-6">
            <a:extLst xmlns:a="http://schemas.openxmlformats.org/drawingml/2006/main">
              <a:ext uri="{FF2B5EF4-FFF2-40B4-BE49-F238E27FC236}">
                <a16:creationId xmlns:a16="http://schemas.microsoft.com/office/drawing/2014/main" id="{F1588305-2EFF-49CC-91AA-6C3F7AFA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495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 sánh prediction_before và prediction_after khi thay đổi input.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Delta chỉ là thay đổi output mô hình, không phải hiệu ứng ngoài đời thực.</a:t>
            </a:r>
          </a:p>
        </p:txBody>
      </p:sp>
    </p:spTree>
    <p:extLst>
      <p:ext uri="{BB962C8B-B14F-4D97-AF65-F5344CB8AC3E}">
        <p14:creationId xmlns:p14="http://schemas.microsoft.com/office/powerpoint/2010/main" val="19604375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7">
            <a:extLst xmlns:a="http://schemas.openxmlformats.org/drawingml/2006/main">
              <a:ext uri="{FF2B5EF4-FFF2-40B4-BE49-F238E27FC236}">
                <a16:creationId xmlns:a16="http://schemas.microsoft.com/office/drawing/2014/main" id="{77C01510-3B24-422A-A911-E6033EF9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4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Frontend và backend được tách để kiểm soát suy luận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59F6C5FE-7F5A-49ED-99BE-CD8038FC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left-panel-7">
            <a:extLst xmlns:a="http://schemas.openxmlformats.org/drawingml/2006/main">
              <a:ext uri="{FF2B5EF4-FFF2-40B4-BE49-F238E27FC236}">
                <a16:creationId xmlns:a16="http://schemas.microsoft.com/office/drawing/2014/main" id="{BD979C08-FC10-48CA-973D-B688A23A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219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right-panel-7">
            <a:extLst xmlns:a="http://schemas.openxmlformats.org/drawingml/2006/main">
              <a:ext uri="{FF2B5EF4-FFF2-40B4-BE49-F238E27FC236}">
                <a16:creationId xmlns:a16="http://schemas.microsoft.com/office/drawing/2014/main" id="{C8D85576-EB46-4CC7-88D3-BB42BE87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5626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left-title-7">
            <a:extLst xmlns:a="http://schemas.openxmlformats.org/drawingml/2006/main">
              <a:ext uri="{FF2B5EF4-FFF2-40B4-BE49-F238E27FC236}">
                <a16:creationId xmlns:a16="http://schemas.microsoft.com/office/drawing/2014/main" id="{5CE693A3-A5B6-45BF-9AB5-C5095785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Ứng dụng</a:t>
            </a:r>
          </a:p>
        </p:txBody>
      </p:sp>
      <p:sp>
        <p:nvSpPr>
          <p:cNvPr id="6" name="left-body-7">
            <a:extLst xmlns:a="http://schemas.openxmlformats.org/drawingml/2006/main">
              <a:ext uri="{FF2B5EF4-FFF2-40B4-BE49-F238E27FC236}">
                <a16:creationId xmlns:a16="http://schemas.microsoft.com/office/drawing/2014/main" id="{FDD0F311-31DF-403B-A6D3-12B3C94A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667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Streamlit · port 8501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Predict · Explain · What-If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Music Trends · Model Info · Limitations</a:t>
            </a:r>
          </a:p>
        </p:txBody>
      </p:sp>
      <p:sp>
        <p:nvSpPr>
          <p:cNvPr id="7" name="right-title-7">
            <a:extLst xmlns:a="http://schemas.openxmlformats.org/drawingml/2006/main">
              <a:ext uri="{FF2B5EF4-FFF2-40B4-BE49-F238E27FC236}">
                <a16:creationId xmlns:a16="http://schemas.microsoft.com/office/drawing/2014/main" id="{CFA122F2-2DFB-4696-BD61-D89F112D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526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Dịch vụ mô hình</a:t>
            </a:r>
          </a:p>
        </p:txBody>
      </p:sp>
      <p:sp>
        <p:nvSpPr>
          <p:cNvPr id="8" name="right-body-7">
            <a:extLst xmlns:a="http://schemas.openxmlformats.org/drawingml/2006/main">
              <a:ext uri="{FF2B5EF4-FFF2-40B4-BE49-F238E27FC236}">
                <a16:creationId xmlns:a16="http://schemas.microsoft.com/office/drawing/2014/main" id="{8A7D8C7F-6644-4858-9661-84916F9D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495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FastAPI · port 8000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Pydantic validation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PipelineLoader tải model lúc startup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SHAP chạy phía backend</a:t>
            </a:r>
          </a:p>
        </p:txBody>
      </p:sp>
    </p:spTree>
    <p:extLst>
      <p:ext uri="{BB962C8B-B14F-4D97-AF65-F5344CB8AC3E}">
        <p14:creationId xmlns:p14="http://schemas.microsoft.com/office/powerpoint/2010/main" val="3288419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8">
            <a:extLst xmlns:a="http://schemas.openxmlformats.org/drawingml/2006/main">
              <a:ext uri="{FF2B5EF4-FFF2-40B4-BE49-F238E27FC236}">
                <a16:creationId xmlns:a16="http://schemas.microsoft.com/office/drawing/2014/main" id="{65B3ADE5-4DEE-4237-B33D-9D1D63C3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8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Demo tập trung vào một luồng ngắn, có thể kiểm chứng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D816462F-7B93-4F71-97F1-9083B2E0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left-panel-8">
            <a:extLst xmlns:a="http://schemas.openxmlformats.org/drawingml/2006/main">
              <a:ext uri="{FF2B5EF4-FFF2-40B4-BE49-F238E27FC236}">
                <a16:creationId xmlns:a16="http://schemas.microsoft.com/office/drawing/2014/main" id="{AD18362A-CC77-4935-B172-76940A69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219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right-panel-8">
            <a:extLst xmlns:a="http://schemas.openxmlformats.org/drawingml/2006/main">
              <a:ext uri="{FF2B5EF4-FFF2-40B4-BE49-F238E27FC236}">
                <a16:creationId xmlns:a16="http://schemas.microsoft.com/office/drawing/2014/main" id="{9192F645-5A76-4963-A3D2-707610CB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5626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left-title-8">
            <a:extLst xmlns:a="http://schemas.openxmlformats.org/drawingml/2006/main">
              <a:ext uri="{FF2B5EF4-FFF2-40B4-BE49-F238E27FC236}">
                <a16:creationId xmlns:a16="http://schemas.microsoft.com/office/drawing/2014/main" id="{C3749B82-3993-4F07-9DA3-383C9E39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Luồng chính</a:t>
            </a:r>
          </a:p>
        </p:txBody>
      </p:sp>
      <p:sp>
        <p:nvSpPr>
          <p:cNvPr id="6" name="left-body-8">
            <a:extLst xmlns:a="http://schemas.openxmlformats.org/drawingml/2006/main">
              <a:ext uri="{FF2B5EF4-FFF2-40B4-BE49-F238E27FC236}">
                <a16:creationId xmlns:a16="http://schemas.microsoft.com/office/drawing/2014/main" id="{16AC06F8-8946-485C-AF99-CE8F143C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667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Kiểm tra /health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Nhập 18 trường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Chạy Predict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Mở Explain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 So sánh What-If</a:t>
            </a:r>
          </a:p>
        </p:txBody>
      </p:sp>
      <p:sp>
        <p:nvSpPr>
          <p:cNvPr id="7" name="right-title-8">
            <a:extLst xmlns:a="http://schemas.openxmlformats.org/drawingml/2006/main">
              <a:ext uri="{FF2B5EF4-FFF2-40B4-BE49-F238E27FC236}">
                <a16:creationId xmlns:a16="http://schemas.microsoft.com/office/drawing/2014/main" id="{F70D48B0-55A1-4B3B-BE17-98454CA4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526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Điểm kiểm soát</a:t>
            </a:r>
          </a:p>
        </p:txBody>
      </p:sp>
      <p:sp>
        <p:nvSpPr>
          <p:cNvPr id="8" name="right-body-8">
            <a:extLst xmlns:a="http://schemas.openxmlformats.org/drawingml/2006/main">
              <a:ext uri="{FF2B5EF4-FFF2-40B4-BE49-F238E27FC236}">
                <a16:creationId xmlns:a16="http://schemas.microsoft.com/office/drawing/2014/main" id="{F3C0F050-70CC-46F2-AAF9-5D33BBC2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495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Canonical prediction: 46,421062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What-If delta: −2,375583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Nếu offline, phải ghi rõ đó là evidence dựng sẵn — không phải live inference.</a:t>
            </a:r>
          </a:p>
        </p:txBody>
      </p:sp>
    </p:spTree>
    <p:extLst>
      <p:ext uri="{BB962C8B-B14F-4D97-AF65-F5344CB8AC3E}">
        <p14:creationId xmlns:p14="http://schemas.microsoft.com/office/powerpoint/2010/main" val="18204216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9">
            <a:extLst xmlns:a="http://schemas.openxmlformats.org/drawingml/2006/main">
              <a:ext uri="{FF2B5EF4-FFF2-40B4-BE49-F238E27FC236}">
                <a16:creationId xmlns:a16="http://schemas.microsoft.com/office/drawing/2014/main" id="{39730B26-6F4D-4842-85D8-D12ABCB6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09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Giá trị của hệ thống nằm ở tính minh bạch về giới hạn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8EAAEAD1-1262-481F-B509-DA8E389C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left-panel-9">
            <a:extLst xmlns:a="http://schemas.openxmlformats.org/drawingml/2006/main">
              <a:ext uri="{FF2B5EF4-FFF2-40B4-BE49-F238E27FC236}">
                <a16:creationId xmlns:a16="http://schemas.microsoft.com/office/drawing/2014/main" id="{88939B01-9CF1-4ADA-9867-29679A32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219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right-panel-9">
            <a:extLst xmlns:a="http://schemas.openxmlformats.org/drawingml/2006/main">
              <a:ext uri="{FF2B5EF4-FFF2-40B4-BE49-F238E27FC236}">
                <a16:creationId xmlns:a16="http://schemas.microsoft.com/office/drawing/2014/main" id="{D40658D4-A512-4270-9B44-FB326233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5626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left-title-9">
            <a:extLst xmlns:a="http://schemas.openxmlformats.org/drawingml/2006/main">
              <a:ext uri="{FF2B5EF4-FFF2-40B4-BE49-F238E27FC236}">
                <a16:creationId xmlns:a16="http://schemas.microsoft.com/office/drawing/2014/main" id="{C42F608A-F4B9-4ED0-81A9-EE929233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Giới hạn mô hình</a:t>
            </a:r>
          </a:p>
        </p:txBody>
      </p:sp>
      <p:sp>
        <p:nvSpPr>
          <p:cNvPr id="6" name="left-body-9">
            <a:extLst xmlns:a="http://schemas.openxmlformats.org/drawingml/2006/main">
              <a:ext uri="{FF2B5EF4-FFF2-40B4-BE49-F238E27FC236}">
                <a16:creationId xmlns:a16="http://schemas.microsoft.com/office/drawing/2014/main" id="{224020DB-D039-4D0B-B868-1CF59ED5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667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R² thấp · MAE cao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Audio không đủ giải thích popularity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SHAP/What-If không mang ý nghĩa nhân quả</a:t>
            </a:r>
          </a:p>
        </p:txBody>
      </p:sp>
      <p:sp>
        <p:nvSpPr>
          <p:cNvPr id="7" name="right-title-9">
            <a:extLst xmlns:a="http://schemas.openxmlformats.org/drawingml/2006/main">
              <a:ext uri="{FF2B5EF4-FFF2-40B4-BE49-F238E27FC236}">
                <a16:creationId xmlns:a16="http://schemas.microsoft.com/office/drawing/2014/main" id="{EA5DCBE5-C04E-4D20-9413-E838C7FD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526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Giới hạn vận hành</a:t>
            </a:r>
          </a:p>
        </p:txBody>
      </p:sp>
      <p:sp>
        <p:nvSpPr>
          <p:cNvPr id="8" name="right-body-9">
            <a:extLst xmlns:a="http://schemas.openxmlformats.org/drawingml/2006/main">
              <a:ext uri="{FF2B5EF4-FFF2-40B4-BE49-F238E27FC236}">
                <a16:creationId xmlns:a16="http://schemas.microsoft.com/office/drawing/2014/main" id="{72372242-3CA1-4C9C-9328-9D15BDE0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495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Mẫu Spotify-derived, không phải thị trường toàn cầu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Academic prototype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Chưa có auth, rate limiting, TLS hoặc production SLA</a:t>
            </a:r>
          </a:p>
        </p:txBody>
      </p:sp>
    </p:spTree>
    <p:extLst>
      <p:ext uri="{BB962C8B-B14F-4D97-AF65-F5344CB8AC3E}">
        <p14:creationId xmlns:p14="http://schemas.microsoft.com/office/powerpoint/2010/main" val="17473106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BE95BF9A-8C1A-4AAC-85B7-937F91E2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186ADB69-FBDD-47C8-946E-77D5DC66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66875"/>
            <a:ext cx="1057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HitRadar Pro trình bày trọn vòng đời ML — cùng những giới hạn phải được nói rõ</a:t>
            </a:r>
          </a:p>
        </p:txBody>
      </p:sp>
      <p:sp>
        <p:nvSpPr>
          <p:cNvPr id="3" name="closing-body">
            <a:extLst xmlns:a="http://schemas.openxmlformats.org/drawingml/2006/main">
              <a:ext uri="{FF2B5EF4-FFF2-40B4-BE49-F238E27FC236}">
                <a16:creationId xmlns:a16="http://schemas.microsoft.com/office/drawing/2014/main" id="{478175DB-8E9C-4E61-B644-B7A473F6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Dữ liệu → mô hình → API → giao diện → giải thích → responsible use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  <p:sp>
        <p:nvSpPr>
          <p:cNvPr id="4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8CDDF73C-1EAD-4887-8179-EBC56E68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90600" cy="549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8174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2026-08-13T13:45:09.5560000Z</dcterms:created>
  <dcterms:modified xsi:type="dcterms:W3CDTF">2026-08-13T13:45:09.5560000Z</dcterms:modified>
</coreProperties>
</file>